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56" r:id="rId2"/>
  </p:sldIdLst>
  <p:sldSz cx="5400675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 userDrawn="1">
          <p15:clr>
            <a:srgbClr val="A4A3A4"/>
          </p15:clr>
        </p15:guide>
        <p15:guide id="2" pos="17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E3DDE4"/>
    <a:srgbClr val="2D5B84"/>
    <a:srgbClr val="D67C36"/>
    <a:srgbClr val="F7F1E6"/>
    <a:srgbClr val="DDD5DE"/>
    <a:srgbClr val="CFC3CF"/>
    <a:srgbClr val="D8CCD8"/>
    <a:srgbClr val="E6852E"/>
    <a:srgbClr val="8D7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3"/>
    <p:restoredTop sz="94702"/>
  </p:normalViewPr>
  <p:slideViewPr>
    <p:cSldViewPr snapToGrid="0" showGuides="1">
      <p:cViewPr>
        <p:scale>
          <a:sx n="246" d="100"/>
          <a:sy n="246" d="100"/>
        </p:scale>
        <p:origin x="2352" y="-3536"/>
      </p:cViewPr>
      <p:guideLst>
        <p:guide orient="horz" pos="2835"/>
        <p:guide pos="17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0F1E2-67D0-C74A-806B-8F27D0C2D9BA}" type="datetimeFigureOut">
              <a:rPr lang="en-AE" smtClean="0"/>
              <a:t>7/1/26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143000"/>
            <a:ext cx="1851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B83AB-02A4-3846-B51B-CB2AC5371420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1831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3B83AB-02A4-3846-B51B-CB2AC5371420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584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472842"/>
            <a:ext cx="4590574" cy="3133172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4726842"/>
            <a:ext cx="4050506" cy="2172804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2825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1667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2243638"/>
            <a:ext cx="4658082" cy="3743557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6022610"/>
            <a:ext cx="4658082" cy="196864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7834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2395710"/>
            <a:ext cx="2295287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2395710"/>
            <a:ext cx="2295287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4022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79144"/>
            <a:ext cx="4658082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2206137"/>
            <a:ext cx="2284738" cy="1081194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3287331"/>
            <a:ext cx="2284738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2206137"/>
            <a:ext cx="2295990" cy="1081194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3287331"/>
            <a:ext cx="2295990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7342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6451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3668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99969"/>
            <a:ext cx="1741858" cy="2099892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1295769"/>
            <a:ext cx="2734092" cy="6395505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699862"/>
            <a:ext cx="1741858" cy="5001827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183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99969"/>
            <a:ext cx="1741858" cy="2099892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1295769"/>
            <a:ext cx="2734092" cy="6395505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699862"/>
            <a:ext cx="1741858" cy="5001827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8590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5897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479142"/>
            <a:ext cx="1164521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479142"/>
            <a:ext cx="3426053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331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479144"/>
            <a:ext cx="465808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2395710"/>
            <a:ext cx="465808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8341240"/>
            <a:ext cx="121515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1BC8-208A-5B41-9D0E-EF636D7DA79F}" type="datetimeFigureOut">
              <a:rPr lang="en-AE" smtClean="0"/>
              <a:t>7/1/26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8341240"/>
            <a:ext cx="182272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8341240"/>
            <a:ext cx="121515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D535B-37E6-7543-B3A8-FC8A779F748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935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hyperlink" Target="https://ieee.atyponrex.com/journal/les-ieee" TargetMode="External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https://sehas-workshop.github.io/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B5285F34-F014-D1D8-4ED9-DB823D84E8CD}"/>
              </a:ext>
            </a:extLst>
          </p:cNvPr>
          <p:cNvSpPr/>
          <p:nvPr/>
        </p:nvSpPr>
        <p:spPr>
          <a:xfrm>
            <a:off x="1808010" y="7156410"/>
            <a:ext cx="3592665" cy="1300726"/>
          </a:xfrm>
          <a:prstGeom prst="rect">
            <a:avLst/>
          </a:prstGeom>
          <a:solidFill>
            <a:srgbClr val="E3DD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E2772-4E39-2616-A0C6-A3A8630970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6460" r="3169"/>
          <a:stretch>
            <a:fillRect/>
          </a:stretch>
        </p:blipFill>
        <p:spPr>
          <a:xfrm>
            <a:off x="110386" y="90441"/>
            <a:ext cx="2047312" cy="867526"/>
          </a:xfrm>
          <a:prstGeom prst="rect">
            <a:avLst/>
          </a:prstGeom>
        </p:spPr>
      </p:pic>
      <p:pic>
        <p:nvPicPr>
          <p:cNvPr id="1030" name="Picture 6" descr="Looking back at HiPEAC 2024 – DEEP-Projects">
            <a:extLst>
              <a:ext uri="{FF2B5EF4-FFF2-40B4-BE49-F238E27FC236}">
                <a16:creationId xmlns:a16="http://schemas.microsoft.com/office/drawing/2014/main" id="{4329D183-F405-D9B2-EE1C-9467A0332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784" y="375988"/>
            <a:ext cx="829798" cy="59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EEE, Signal Transmission &amp; I/O Standard | Samtec">
            <a:extLst>
              <a:ext uri="{FF2B5EF4-FFF2-40B4-BE49-F238E27FC236}">
                <a16:creationId xmlns:a16="http://schemas.microsoft.com/office/drawing/2014/main" id="{303D8552-817A-0027-3376-5A47CE96C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927" y="90441"/>
            <a:ext cx="947776" cy="27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ome | IEEE Council on Electronic Design Automation">
            <a:extLst>
              <a:ext uri="{FF2B5EF4-FFF2-40B4-BE49-F238E27FC236}">
                <a16:creationId xmlns:a16="http://schemas.microsoft.com/office/drawing/2014/main" id="{4EF48F0B-5E55-1F22-A6B5-0B8D393B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509" y="90441"/>
            <a:ext cx="978349" cy="2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799EC9-7019-1664-9419-E9904BD348EE}"/>
              </a:ext>
            </a:extLst>
          </p:cNvPr>
          <p:cNvSpPr txBox="1"/>
          <p:nvPr/>
        </p:nvSpPr>
        <p:spPr>
          <a:xfrm>
            <a:off x="2301112" y="404733"/>
            <a:ext cx="17434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100" dirty="0">
                <a:solidFill>
                  <a:srgbClr val="222222"/>
                </a:solidFill>
              </a:rPr>
              <a:t>January 18 – 20, 2027</a:t>
            </a:r>
          </a:p>
          <a:p>
            <a:r>
              <a:rPr lang="en-AE" sz="1100" dirty="0">
                <a:solidFill>
                  <a:srgbClr val="222222"/>
                </a:solidFill>
              </a:rPr>
              <a:t>HiPEAC Conference</a:t>
            </a:r>
            <a:br>
              <a:rPr lang="en-AE" sz="1100" dirty="0">
                <a:solidFill>
                  <a:srgbClr val="222222"/>
                </a:solidFill>
              </a:rPr>
            </a:br>
            <a:r>
              <a:rPr lang="en-US" sz="1100" b="1" dirty="0">
                <a:solidFill>
                  <a:srgbClr val="222222"/>
                </a:solidFill>
              </a:rPr>
              <a:t>Glasgow, United Kingdom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935F8D-072E-F9E4-C125-A80D80ED3E24}"/>
              </a:ext>
            </a:extLst>
          </p:cNvPr>
          <p:cNvSpPr/>
          <p:nvPr/>
        </p:nvSpPr>
        <p:spPr>
          <a:xfrm>
            <a:off x="675" y="1309327"/>
            <a:ext cx="5400000" cy="2900984"/>
          </a:xfrm>
          <a:prstGeom prst="rect">
            <a:avLst/>
          </a:prstGeom>
          <a:solidFill>
            <a:srgbClr val="E3DD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D00626-D2E7-42BB-F7A5-959D7011376B}"/>
              </a:ext>
            </a:extLst>
          </p:cNvPr>
          <p:cNvSpPr txBox="1"/>
          <p:nvPr/>
        </p:nvSpPr>
        <p:spPr>
          <a:xfrm>
            <a:off x="-1" y="6369171"/>
            <a:ext cx="1721167" cy="2062103"/>
          </a:xfrm>
          <a:prstGeom prst="rect">
            <a:avLst/>
          </a:prstGeom>
          <a:solidFill>
            <a:srgbClr val="E3DDE4"/>
          </a:solidFill>
        </p:spPr>
        <p:txBody>
          <a:bodyPr wrap="square">
            <a:spAutoFit/>
          </a:bodyPr>
          <a:lstStyle/>
          <a:p>
            <a:pPr algn="l"/>
            <a:endParaRPr lang="en-US" sz="900" dirty="0"/>
          </a:p>
          <a:p>
            <a:pPr algn="l"/>
            <a:r>
              <a:rPr lang="en-US" sz="1100" dirty="0">
                <a:solidFill>
                  <a:srgbClr val="D67C36"/>
                </a:solidFill>
                <a:latin typeface="Arial Rounded MT Bold" panose="020F0704030504030204" pitchFamily="34" charset="77"/>
              </a:rPr>
              <a:t>Program Chairs</a:t>
            </a:r>
          </a:p>
          <a:p>
            <a:pPr algn="l"/>
            <a:endParaRPr lang="en-US" sz="600" dirty="0"/>
          </a:p>
          <a:p>
            <a:r>
              <a:rPr lang="en-US" sz="900" b="1" dirty="0"/>
              <a:t>Lilas Alrahis</a:t>
            </a:r>
          </a:p>
          <a:p>
            <a:r>
              <a:rPr lang="en-US" sz="900" dirty="0"/>
              <a:t>Khalifa University, </a:t>
            </a:r>
            <a:r>
              <a:rPr lang="en-US" sz="900" i="1" dirty="0"/>
              <a:t>UAE</a:t>
            </a:r>
            <a:endParaRPr lang="en-US" sz="300" i="1" dirty="0"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00" i="1" dirty="0"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00" dirty="0"/>
          </a:p>
          <a:p>
            <a:pPr algn="l"/>
            <a:endParaRPr lang="en-US" sz="300" dirty="0"/>
          </a:p>
          <a:p>
            <a:pPr algn="l"/>
            <a:r>
              <a:rPr lang="en-US" sz="1100" dirty="0">
                <a:solidFill>
                  <a:srgbClr val="D67C36"/>
                </a:solidFill>
                <a:latin typeface="Arial Rounded MT Bold" panose="020F0704030504030204" pitchFamily="34" charset="77"/>
              </a:rPr>
              <a:t>Publicity Chairs</a:t>
            </a:r>
          </a:p>
          <a:p>
            <a:pPr algn="l"/>
            <a:endParaRPr lang="en-US" sz="300" dirty="0">
              <a:latin typeface="Arial Rounded MT Bold" panose="020F0704030504030204" pitchFamily="34" charset="77"/>
            </a:endParaRPr>
          </a:p>
          <a:p>
            <a:pPr lvl="0">
              <a:defRPr/>
            </a:pPr>
            <a:r>
              <a:rPr lang="en-US" sz="900" b="1" dirty="0"/>
              <a:t>Farhad Merchant</a:t>
            </a:r>
          </a:p>
          <a:p>
            <a:pPr lvl="0">
              <a:defRPr/>
            </a:pPr>
            <a:r>
              <a:rPr lang="en-US" sz="900" dirty="0"/>
              <a:t>University of Groningen, </a:t>
            </a:r>
            <a:r>
              <a:rPr lang="en-US" sz="900" i="1" dirty="0"/>
              <a:t>Netherlands</a:t>
            </a:r>
          </a:p>
          <a:p>
            <a:pPr algn="l"/>
            <a:endParaRPr lang="en-US" sz="400" dirty="0"/>
          </a:p>
          <a:p>
            <a:pPr algn="l"/>
            <a:r>
              <a:rPr lang="en-US" sz="900" b="1" dirty="0"/>
              <a:t>Dominik </a:t>
            </a:r>
            <a:r>
              <a:rPr lang="en-US" sz="900" b="1" dirty="0" err="1"/>
              <a:t>Germek</a:t>
            </a:r>
            <a:endParaRPr lang="en-US" sz="900" b="1" dirty="0"/>
          </a:p>
          <a:p>
            <a:pPr algn="l"/>
            <a:r>
              <a:rPr lang="en-US" sz="900" dirty="0"/>
              <a:t>Corporate Research</a:t>
            </a:r>
          </a:p>
          <a:p>
            <a:pPr algn="l"/>
            <a:r>
              <a:rPr lang="en-US" sz="900" dirty="0"/>
              <a:t>Robert Bosch GmbH, </a:t>
            </a:r>
            <a:r>
              <a:rPr lang="en-US" sz="900" i="1" dirty="0"/>
              <a:t>Germany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9100CE2-5AA8-E313-D74B-73E29C222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1" y="2828419"/>
            <a:ext cx="5227492" cy="183374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100" dirty="0">
                <a:solidFill>
                  <a:srgbClr val="222222"/>
                </a:solidFill>
              </a:rPr>
              <a:t>Join us for the </a:t>
            </a:r>
            <a:r>
              <a:rPr lang="en-US" sz="1100" i="1" dirty="0">
                <a:solidFill>
                  <a:srgbClr val="222222"/>
                </a:solidFill>
              </a:rPr>
              <a:t>9th International Workshop on Secure Hardware, Architectures, and Software (</a:t>
            </a:r>
            <a:r>
              <a:rPr lang="en-US" sz="1100" i="1" dirty="0" err="1">
                <a:solidFill>
                  <a:srgbClr val="222222"/>
                </a:solidFill>
              </a:rPr>
              <a:t>SeHAS</a:t>
            </a:r>
            <a:r>
              <a:rPr lang="en-US" sz="1100" i="1" dirty="0">
                <a:solidFill>
                  <a:srgbClr val="222222"/>
                </a:solidFill>
              </a:rPr>
              <a:t>) </a:t>
            </a:r>
            <a:r>
              <a:rPr lang="en-US" sz="1100" dirty="0">
                <a:solidFill>
                  <a:srgbClr val="222222"/>
                </a:solidFill>
              </a:rPr>
              <a:t>as we explore the forefront of security research and innovation.</a:t>
            </a:r>
          </a:p>
          <a:p>
            <a:pPr marL="0" indent="0" algn="just">
              <a:buNone/>
            </a:pPr>
            <a:r>
              <a:rPr lang="en-US" sz="1100" dirty="0">
                <a:solidFill>
                  <a:srgbClr val="222222"/>
                </a:solidFill>
              </a:rPr>
              <a:t>We invite researchers, practitioners, and administrators from security and related disciplines to contribute their expertise and insights.</a:t>
            </a: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222222"/>
                </a:solidFill>
              </a:rPr>
              <a:t>SeHAS</a:t>
            </a:r>
            <a:r>
              <a:rPr lang="en-US" sz="1100" dirty="0">
                <a:solidFill>
                  <a:srgbClr val="222222"/>
                </a:solidFill>
              </a:rPr>
              <a:t> provides a dynamic platform for exchanging perspectives, sharing lessons learned, and gaining new insights into securing hardware, architectures, and software.</a:t>
            </a:r>
          </a:p>
          <a:p>
            <a:pPr marL="0" indent="0" algn="just">
              <a:buNone/>
            </a:pPr>
            <a:br>
              <a:rPr lang="en-US" sz="1100" dirty="0"/>
            </a:br>
            <a:endParaRPr lang="en-US" sz="3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92C3E4-303E-66EF-FCE4-055EF0FA39FF}"/>
              </a:ext>
            </a:extLst>
          </p:cNvPr>
          <p:cNvSpPr txBox="1"/>
          <p:nvPr/>
        </p:nvSpPr>
        <p:spPr>
          <a:xfrm>
            <a:off x="110386" y="4430164"/>
            <a:ext cx="5179902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30"/>
              </a:spcBef>
              <a:spcAft>
                <a:spcPts val="20"/>
              </a:spcAft>
            </a:pPr>
            <a:r>
              <a:rPr lang="en-US" sz="1050" b="1" dirty="0"/>
              <a:t>Paper Submission Guidelines for Submitting Original Research Articles</a:t>
            </a:r>
          </a:p>
          <a:p>
            <a:pPr algn="ctr">
              <a:spcBef>
                <a:spcPts val="130"/>
              </a:spcBef>
              <a:spcAft>
                <a:spcPts val="20"/>
              </a:spcAft>
            </a:pPr>
            <a:endParaRPr lang="en-US" sz="100" b="1" dirty="0"/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Length: </a:t>
            </a:r>
            <a:r>
              <a:rPr lang="en-US" sz="1050" dirty="0"/>
              <a:t>Up to 4 pages in an IEEE double-column, single-blind, 10-pt.</a:t>
            </a: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Review process: </a:t>
            </a:r>
            <a:r>
              <a:rPr lang="en-US" sz="1050" dirty="0"/>
              <a:t>The review is processed by IEEE Embedded Systems Letters (ESL).</a:t>
            </a: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Publication: </a:t>
            </a:r>
            <a:r>
              <a:rPr lang="en-US" sz="1050" dirty="0"/>
              <a:t>Accepted articles will be published in IEEE ESL.</a:t>
            </a: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Presentation: </a:t>
            </a:r>
            <a:r>
              <a:rPr lang="en-US" sz="1050" dirty="0"/>
              <a:t>Authors of accepted papers will have the opportunity to present their work at </a:t>
            </a:r>
            <a:r>
              <a:rPr lang="en-US" sz="1050" dirty="0" err="1"/>
              <a:t>SeHAS@HiPEAC</a:t>
            </a:r>
            <a:r>
              <a:rPr lang="en-US" sz="1050" dirty="0"/>
              <a:t> 20267 in Glasgow, United Kingdom.</a:t>
            </a: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Registration: </a:t>
            </a:r>
            <a:r>
              <a:rPr lang="en-US" sz="1050" dirty="0"/>
              <a:t>One registration per presenter at the </a:t>
            </a:r>
            <a:r>
              <a:rPr lang="en-US" sz="1050" dirty="0" err="1"/>
              <a:t>HiPEAC</a:t>
            </a:r>
            <a:r>
              <a:rPr lang="en-US" sz="1050" dirty="0"/>
              <a:t> conference is mandatory.</a:t>
            </a: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/>
              <a:t>Submission link: </a:t>
            </a:r>
            <a:r>
              <a:rPr lang="en-US" sz="1050" dirty="0">
                <a:solidFill>
                  <a:srgbClr val="2D5B84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https://ieee.atyponrex.com/journal/les-ieee</a:t>
            </a:r>
            <a:endParaRPr lang="en-US" sz="1050" dirty="0">
              <a:solidFill>
                <a:srgbClr val="2D5B84"/>
              </a:solidFill>
            </a:endParaRPr>
          </a:p>
          <a:p>
            <a:pPr marL="171450" indent="-171450">
              <a:spcBef>
                <a:spcPts val="130"/>
              </a:spcBef>
              <a:spcAft>
                <a:spcPts val="20"/>
              </a:spcAft>
              <a:buFont typeface="Wingdings" pitchFamily="2" charset="2"/>
              <a:buChar char="q"/>
            </a:pPr>
            <a:r>
              <a:rPr lang="en-US" sz="1050" b="1" dirty="0">
                <a:solidFill>
                  <a:srgbClr val="D67C36"/>
                </a:solidFill>
              </a:rPr>
              <a:t>Article type: </a:t>
            </a:r>
            <a:r>
              <a:rPr lang="en-US" sz="1050" dirty="0"/>
              <a:t>Select </a:t>
            </a:r>
            <a:r>
              <a:rPr lang="en-US" sz="1050" b="1" dirty="0" err="1"/>
              <a:t>SeHAS</a:t>
            </a:r>
            <a:r>
              <a:rPr lang="en-US" sz="1050" dirty="0"/>
              <a:t> as the </a:t>
            </a:r>
            <a:r>
              <a:rPr lang="en-US" sz="1050" b="1" dirty="0"/>
              <a:t>Article Type</a:t>
            </a:r>
            <a:r>
              <a:rPr lang="en-US" sz="1050" dirty="0"/>
              <a:t> in the first step of the submission process. </a:t>
            </a:r>
            <a:r>
              <a:rPr lang="en-US" sz="1050" b="1" dirty="0"/>
              <a:t>Only submissions with this selection will be considered for the workshop.</a:t>
            </a:r>
            <a:endParaRPr lang="en-US" sz="105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302A35-7148-D2B5-68BF-642C01E1E185}"/>
              </a:ext>
            </a:extLst>
          </p:cNvPr>
          <p:cNvSpPr/>
          <p:nvPr/>
        </p:nvSpPr>
        <p:spPr>
          <a:xfrm>
            <a:off x="0" y="4172661"/>
            <a:ext cx="5400000" cy="259855"/>
          </a:xfrm>
          <a:prstGeom prst="rect">
            <a:avLst/>
          </a:prstGeom>
          <a:solidFill>
            <a:srgbClr val="D67C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97E34E-EA42-EFCB-C61F-E4DB542851C1}"/>
              </a:ext>
            </a:extLst>
          </p:cNvPr>
          <p:cNvSpPr txBox="1"/>
          <p:nvPr/>
        </p:nvSpPr>
        <p:spPr>
          <a:xfrm>
            <a:off x="1831702" y="4164089"/>
            <a:ext cx="1737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rgbClr val="F7F1E6"/>
                </a:solidFill>
                <a:latin typeface="Arial Rounded MT Bold" panose="020F0704030504030204" pitchFamily="34" charset="77"/>
                <a:cs typeface="Al Nile" pitchFamily="2" charset="-78"/>
              </a:rPr>
              <a:t>PAPER SUBMISSION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F8E6B4-600D-7219-0870-D0AA866BB0C3}"/>
              </a:ext>
            </a:extLst>
          </p:cNvPr>
          <p:cNvSpPr/>
          <p:nvPr/>
        </p:nvSpPr>
        <p:spPr>
          <a:xfrm>
            <a:off x="337" y="1057865"/>
            <a:ext cx="5400000" cy="259855"/>
          </a:xfrm>
          <a:prstGeom prst="rect">
            <a:avLst/>
          </a:prstGeom>
          <a:solidFill>
            <a:srgbClr val="D67C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F8BAB-DF74-08B3-EFAC-F06916AB9042}"/>
              </a:ext>
            </a:extLst>
          </p:cNvPr>
          <p:cNvSpPr txBox="1"/>
          <p:nvPr/>
        </p:nvSpPr>
        <p:spPr>
          <a:xfrm>
            <a:off x="1892616" y="1049293"/>
            <a:ext cx="16154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rgbClr val="F7F1E6"/>
                </a:solidFill>
                <a:latin typeface="Arial Rounded MT Bold" panose="020F0704030504030204" pitchFamily="34" charset="77"/>
                <a:cs typeface="Al Nile" pitchFamily="2" charset="-78"/>
              </a:rPr>
              <a:t>CALL FOR PAPERS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91F244-7832-66C1-9E5C-0DC9271EEF72}"/>
              </a:ext>
            </a:extLst>
          </p:cNvPr>
          <p:cNvSpPr txBox="1"/>
          <p:nvPr/>
        </p:nvSpPr>
        <p:spPr>
          <a:xfrm>
            <a:off x="1936037" y="7841854"/>
            <a:ext cx="333661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800" dirty="0">
              <a:solidFill>
                <a:srgbClr val="373A49"/>
              </a:solidFill>
            </a:endParaRPr>
          </a:p>
          <a:p>
            <a:pPr algn="l"/>
            <a:r>
              <a:rPr lang="en-US" sz="1200" b="1" dirty="0"/>
              <a:t>September 11, 2026: </a:t>
            </a:r>
            <a:r>
              <a:rPr lang="en-US" sz="1200" dirty="0"/>
              <a:t>Manuscript submission</a:t>
            </a:r>
            <a:br>
              <a:rPr lang="en-US" sz="1200" dirty="0"/>
            </a:br>
            <a:endParaRPr lang="en-US" sz="200" dirty="0"/>
          </a:p>
          <a:p>
            <a:r>
              <a:rPr lang="en-US" sz="1200" b="1" dirty="0">
                <a:solidFill>
                  <a:srgbClr val="D67C36"/>
                </a:solidFill>
              </a:rPr>
              <a:t>ESL reviews are typically done within 4 weeks</a:t>
            </a:r>
            <a:endParaRPr lang="en-US" sz="800" dirty="0">
              <a:solidFill>
                <a:srgbClr val="373A49"/>
              </a:solidFill>
            </a:endParaRPr>
          </a:p>
          <a:p>
            <a:pPr algn="l"/>
            <a:endParaRPr lang="en-US" sz="1200" dirty="0">
              <a:solidFill>
                <a:srgbClr val="182B38"/>
              </a:solidFill>
            </a:endParaRPr>
          </a:p>
          <a:p>
            <a:pPr algn="l"/>
            <a:endParaRPr lang="en-US" sz="1000" dirty="0">
              <a:solidFill>
                <a:srgbClr val="182B38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28AA61-2C14-B2D6-170C-19E320E60430}"/>
              </a:ext>
            </a:extLst>
          </p:cNvPr>
          <p:cNvSpPr/>
          <p:nvPr/>
        </p:nvSpPr>
        <p:spPr>
          <a:xfrm>
            <a:off x="0" y="6225964"/>
            <a:ext cx="1722505" cy="255600"/>
          </a:xfrm>
          <a:prstGeom prst="rect">
            <a:avLst/>
          </a:prstGeom>
          <a:solidFill>
            <a:srgbClr val="D67C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840228-77F1-BB6F-E444-DFF2997A9076}"/>
              </a:ext>
            </a:extLst>
          </p:cNvPr>
          <p:cNvSpPr txBox="1"/>
          <p:nvPr/>
        </p:nvSpPr>
        <p:spPr>
          <a:xfrm>
            <a:off x="230625" y="6215265"/>
            <a:ext cx="1221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E" sz="1200" dirty="0">
                <a:solidFill>
                  <a:srgbClr val="F7F1E6"/>
                </a:solidFill>
                <a:latin typeface="Arial Rounded MT Bold" panose="020F0704030504030204" pitchFamily="34" charset="77"/>
                <a:cs typeface="Al Nile" pitchFamily="2" charset="-78"/>
              </a:rPr>
              <a:t>ORGANIZERS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5D1E52F-022A-A8F8-8B68-01B22008E6A8}"/>
              </a:ext>
            </a:extLst>
          </p:cNvPr>
          <p:cNvGrpSpPr/>
          <p:nvPr/>
        </p:nvGrpSpPr>
        <p:grpSpPr>
          <a:xfrm>
            <a:off x="1808010" y="6344969"/>
            <a:ext cx="3712038" cy="1554272"/>
            <a:chOff x="1808003" y="5684431"/>
            <a:chExt cx="3713262" cy="1554272"/>
          </a:xfrm>
          <a:solidFill>
            <a:srgbClr val="E3DDE4"/>
          </a:solidFill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94ED5B-6065-CB68-DCAA-8659DB71EF14}"/>
                </a:ext>
              </a:extLst>
            </p:cNvPr>
            <p:cNvSpPr txBox="1"/>
            <p:nvPr/>
          </p:nvSpPr>
          <p:spPr>
            <a:xfrm>
              <a:off x="1808003" y="5684431"/>
              <a:ext cx="3593174" cy="15542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l"/>
              <a:endParaRPr lang="en-US" sz="900" b="0" i="0" u="none" strike="noStrike" dirty="0">
                <a:solidFill>
                  <a:srgbClr val="182B38"/>
                </a:solidFill>
                <a:effectLst/>
              </a:endParaRPr>
            </a:p>
            <a:p>
              <a:pPr algn="just"/>
              <a:r>
                <a:rPr lang="en-US" sz="900" b="0" i="0" u="none" strike="noStrike" dirty="0" err="1">
                  <a:effectLst/>
                </a:rPr>
                <a:t>SeHAS</a:t>
              </a:r>
              <a:r>
                <a:rPr lang="en-US" sz="900" b="0" i="0" u="none" strike="noStrike" dirty="0">
                  <a:effectLst/>
                </a:rPr>
                <a:t> 2027 invites original contributions in all areas of overlap between hardware and software security, including but not limited to:</a:t>
              </a:r>
            </a:p>
            <a:p>
              <a:pPr marL="171450" indent="-171450">
                <a:buFont typeface="Wingdings" pitchFamily="2" charset="2"/>
                <a:buChar char="q"/>
              </a:pPr>
              <a:endParaRPr lang="en-US" sz="500" b="0" i="0" u="none" strike="noStrike" dirty="0">
                <a:effectLst/>
              </a:endParaRP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Hardware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Embedded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Architecture-level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System &amp; platform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dirty="0"/>
                <a:t>Emerging technologies &amp;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FPGA security</a:t>
              </a:r>
            </a:p>
            <a:p>
              <a:endParaRPr lang="en-AE" sz="900" dirty="0">
                <a:solidFill>
                  <a:srgbClr val="182B38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3DC7B29-93AC-D50E-FC1B-E4294454CEDC}"/>
                </a:ext>
              </a:extLst>
            </p:cNvPr>
            <p:cNvSpPr txBox="1"/>
            <p:nvPr/>
          </p:nvSpPr>
          <p:spPr>
            <a:xfrm>
              <a:off x="3570803" y="6174351"/>
              <a:ext cx="195046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Software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 dirty="0">
                  <a:effectLst/>
                </a:rPr>
                <a:t>Security measurement studies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>
                  <a:effectLst/>
                </a:rPr>
                <a:t>Vulnerability Discovery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b="0" i="0" u="none" strike="noStrike">
                  <a:effectLst/>
                </a:rPr>
                <a:t>Machine </a:t>
              </a:r>
              <a:r>
                <a:rPr lang="en-US" sz="900" b="0" i="0" u="none" strike="noStrike" dirty="0">
                  <a:effectLst/>
                </a:rPr>
                <a:t>learning </a:t>
              </a:r>
              <a:r>
                <a:rPr lang="en-US" sz="900" dirty="0"/>
                <a:t>&amp;</a:t>
              </a:r>
              <a:r>
                <a:rPr lang="en-US" sz="900" b="0" i="0" u="none" strike="noStrike" dirty="0">
                  <a:effectLst/>
                </a:rPr>
                <a:t> security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dirty="0"/>
                <a:t>Malware detection &amp; prevention</a:t>
              </a:r>
            </a:p>
            <a:p>
              <a:pPr marL="171450" indent="-171450">
                <a:buFont typeface="Wingdings" pitchFamily="2" charset="2"/>
                <a:buChar char="q"/>
              </a:pPr>
              <a:r>
                <a:rPr lang="en-US" sz="900" dirty="0"/>
                <a:t>Hardware/software fuzzing</a:t>
              </a:r>
              <a:endParaRPr lang="en-AE" sz="900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8151FE-7027-A33B-E2F3-AC99A9B1B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t="9040" b="5182"/>
          <a:stretch>
            <a:fillRect/>
          </a:stretch>
        </p:blipFill>
        <p:spPr bwMode="auto">
          <a:xfrm>
            <a:off x="870078" y="1358131"/>
            <a:ext cx="3660518" cy="1441387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University of Groningen - NamuWiki">
            <a:extLst>
              <a:ext uri="{FF2B5EF4-FFF2-40B4-BE49-F238E27FC236}">
                <a16:creationId xmlns:a16="http://schemas.microsoft.com/office/drawing/2014/main" id="{617FCB5C-7A73-564E-6FF9-C6310A664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6" y="8468233"/>
            <a:ext cx="1816324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35321A8-C9AB-4CF5-1CCA-D58F8292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53" y="8443951"/>
            <a:ext cx="159963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87FEB575-0849-71F9-36A9-F7C989A91932}"/>
              </a:ext>
            </a:extLst>
          </p:cNvPr>
          <p:cNvSpPr/>
          <p:nvPr/>
        </p:nvSpPr>
        <p:spPr>
          <a:xfrm>
            <a:off x="1808010" y="6225964"/>
            <a:ext cx="3592665" cy="255600"/>
          </a:xfrm>
          <a:prstGeom prst="rect">
            <a:avLst/>
          </a:prstGeom>
          <a:solidFill>
            <a:srgbClr val="D67C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9D51A-140D-A746-747A-45A72001EB11}"/>
              </a:ext>
            </a:extLst>
          </p:cNvPr>
          <p:cNvSpPr txBox="1"/>
          <p:nvPr/>
        </p:nvSpPr>
        <p:spPr>
          <a:xfrm>
            <a:off x="2984044" y="6215265"/>
            <a:ext cx="1240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rgbClr val="F7F1E6"/>
                </a:solidFill>
                <a:latin typeface="Arial Rounded MT Bold" panose="020F0704030504030204" pitchFamily="34" charset="77"/>
                <a:cs typeface="Al Nile" pitchFamily="2" charset="-78"/>
              </a:rPr>
              <a:t>TOPIC AREAS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812C0C5-B8B2-F7EA-7C3A-E7BE6BB8B764}"/>
              </a:ext>
            </a:extLst>
          </p:cNvPr>
          <p:cNvSpPr/>
          <p:nvPr/>
        </p:nvSpPr>
        <p:spPr>
          <a:xfrm>
            <a:off x="1808010" y="7729924"/>
            <a:ext cx="3592665" cy="255600"/>
          </a:xfrm>
          <a:prstGeom prst="rect">
            <a:avLst/>
          </a:prstGeom>
          <a:solidFill>
            <a:srgbClr val="D67C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5605B-0E8F-F135-2B4A-82782DFBD8DB}"/>
              </a:ext>
            </a:extLst>
          </p:cNvPr>
          <p:cNvSpPr txBox="1"/>
          <p:nvPr/>
        </p:nvSpPr>
        <p:spPr>
          <a:xfrm>
            <a:off x="2433188" y="7719225"/>
            <a:ext cx="2342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rgbClr val="F7F1E6"/>
                </a:solidFill>
                <a:latin typeface="Arial Rounded MT Bold" panose="020F0704030504030204" pitchFamily="34" charset="77"/>
                <a:cs typeface="Al Nile" pitchFamily="2" charset="-78"/>
              </a:rPr>
              <a:t>SUBMISSION and DEADLINE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1D826-68C2-CB29-0793-B79B116C916A}"/>
              </a:ext>
            </a:extLst>
          </p:cNvPr>
          <p:cNvSpPr txBox="1"/>
          <p:nvPr/>
        </p:nvSpPr>
        <p:spPr>
          <a:xfrm>
            <a:off x="641407" y="3924485"/>
            <a:ext cx="4117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/>
              <a:t>Workshop webpage: </a:t>
            </a:r>
            <a:r>
              <a:rPr lang="en-US" sz="1100" dirty="0">
                <a:solidFill>
                  <a:srgbClr val="2D5B84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https://sehas-workshop.github.io</a:t>
            </a:r>
            <a:endParaRPr lang="en-US" sz="1100" dirty="0">
              <a:solidFill>
                <a:srgbClr val="2D5B8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1F19C5-1D4E-8405-6AE7-72790F69D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5336" y="8331733"/>
            <a:ext cx="1635026" cy="73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7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6079</TotalTime>
  <Words>341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Germek Dominik (CR/APC1)</cp:lastModifiedBy>
  <cp:revision>72</cp:revision>
  <cp:lastPrinted>2026-07-01T10:02:20Z</cp:lastPrinted>
  <dcterms:created xsi:type="dcterms:W3CDTF">2024-03-20T09:48:02Z</dcterms:created>
  <dcterms:modified xsi:type="dcterms:W3CDTF">2026-07-01T10:16:46Z</dcterms:modified>
</cp:coreProperties>
</file>